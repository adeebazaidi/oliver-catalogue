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67" r:id="rId5"/>
    <p:sldId id="264" r:id="rId6"/>
    <p:sldId id="265" r:id="rId7"/>
  </p:sldIdLst>
  <p:sldSz cx="18288000" cy="10287000"/>
  <p:notesSz cx="6858000" cy="9144000"/>
  <p:embeddedFontLst>
    <p:embeddedFont>
      <p:font typeface="Inter Bold" panose="020B0604020202020204" charset="0"/>
      <p:regular r:id="rId9"/>
      <p:bold r:id="rId10"/>
    </p:embeddedFont>
    <p:embeddedFont>
      <p:font typeface="Open Sans" panose="020B0606030504020204" pitchFamily="34" charset="0"/>
      <p:regular r:id="rId11"/>
      <p:bold r:id="rId12"/>
      <p:italic r:id="rId13"/>
      <p:boldItalic r:id="rId14"/>
    </p:embeddedFont>
    <p:embeddedFont>
      <p:font typeface="Playfair Display" panose="00000500000000000000" pitchFamily="2" charset="0"/>
      <p:regular r:id="rId15"/>
      <p:bold r:id="rId16"/>
      <p:italic r:id="rId17"/>
      <p:boldItalic r:id="rId18"/>
    </p:embeddedFont>
    <p:embeddedFont>
      <p:font typeface="Playfair Display Bold" panose="00000800000000000000"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66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850C2-9510-4BF1-B17B-7B018240C7C1}" type="datetimeFigureOut">
              <a:rPr lang="en-IN" smtClean="0"/>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96AB7-AF97-4B81-A9FA-286B356106C8}" type="slidenum">
              <a:rPr lang="en-IN" smtClean="0"/>
              <a:t>‹#›</a:t>
            </a:fld>
            <a:endParaRPr lang="en-IN"/>
          </a:p>
        </p:txBody>
      </p:sp>
    </p:spTree>
    <p:extLst>
      <p:ext uri="{BB962C8B-B14F-4D97-AF65-F5344CB8AC3E}">
        <p14:creationId xmlns:p14="http://schemas.microsoft.com/office/powerpoint/2010/main" val="1958471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7596AB7-AF97-4B81-A9FA-286B356106C8}" type="slidenum">
              <a:rPr lang="en-IN" smtClean="0"/>
              <a:t>4</a:t>
            </a:fld>
            <a:endParaRPr lang="en-IN"/>
          </a:p>
        </p:txBody>
      </p:sp>
    </p:spTree>
    <p:extLst>
      <p:ext uri="{BB962C8B-B14F-4D97-AF65-F5344CB8AC3E}">
        <p14:creationId xmlns:p14="http://schemas.microsoft.com/office/powerpoint/2010/main" val="1258423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svg"/><Relationship Id="rId7" Type="http://schemas.openxmlformats.org/officeDocument/2006/relationships/image" Target="../media/image29.jpe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28.svg"/><Relationship Id="rId11" Type="http://schemas.openxmlformats.org/officeDocument/2006/relationships/image" Target="../media/image33.png"/><Relationship Id="rId5" Type="http://schemas.openxmlformats.org/officeDocument/2006/relationships/image" Target="../media/image2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8223114" y="4686300"/>
            <a:ext cx="1841771" cy="89595"/>
            <a:chOff x="0" y="0"/>
            <a:chExt cx="327938" cy="12543"/>
          </a:xfrm>
        </p:grpSpPr>
        <p:sp>
          <p:nvSpPr>
            <p:cNvPr id="3" name="Freeform 3"/>
            <p:cNvSpPr/>
            <p:nvPr/>
          </p:nvSpPr>
          <p:spPr>
            <a:xfrm>
              <a:off x="0" y="0"/>
              <a:ext cx="327938" cy="12543"/>
            </a:xfrm>
            <a:custGeom>
              <a:avLst/>
              <a:gdLst/>
              <a:ahLst/>
              <a:cxnLst/>
              <a:rect l="l" t="t" r="r" b="b"/>
              <a:pathLst>
                <a:path w="327938" h="12543">
                  <a:moveTo>
                    <a:pt x="0" y="0"/>
                  </a:moveTo>
                  <a:lnTo>
                    <a:pt x="327938" y="0"/>
                  </a:lnTo>
                  <a:lnTo>
                    <a:pt x="327938" y="12543"/>
                  </a:lnTo>
                  <a:lnTo>
                    <a:pt x="0" y="12543"/>
                  </a:lnTo>
                  <a:close/>
                </a:path>
              </a:pathLst>
            </a:custGeom>
            <a:solidFill>
              <a:srgbClr val="F4F6FC"/>
            </a:solidFill>
          </p:spPr>
          <p:txBody>
            <a:bodyPr/>
            <a:lstStyle/>
            <a:p>
              <a:endParaRPr lang="en-US"/>
            </a:p>
          </p:txBody>
        </p:sp>
        <p:sp>
          <p:nvSpPr>
            <p:cNvPr id="4" name="TextBox 4"/>
            <p:cNvSpPr txBox="1"/>
            <p:nvPr/>
          </p:nvSpPr>
          <p:spPr>
            <a:xfrm>
              <a:off x="0" y="-38100"/>
              <a:ext cx="327938" cy="50643"/>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458" y="5799146"/>
            <a:ext cx="18288000" cy="503215"/>
          </a:xfrm>
          <a:prstGeom prst="rect">
            <a:avLst/>
          </a:prstGeom>
        </p:spPr>
        <p:txBody>
          <a:bodyPr wrap="square" lIns="0" tIns="0" rIns="0" bIns="0" rtlCol="0" anchor="t">
            <a:spAutoFit/>
          </a:bodyPr>
          <a:lstStyle/>
          <a:p>
            <a:pPr algn="ctr">
              <a:lnSpc>
                <a:spcPts val="4199"/>
              </a:lnSpc>
              <a:spcBef>
                <a:spcPct val="0"/>
              </a:spcBef>
            </a:pPr>
            <a:r>
              <a:rPr lang="en-US" sz="2999" dirty="0">
                <a:solidFill>
                  <a:srgbClr val="F4F6FC"/>
                </a:solidFill>
                <a:latin typeface="Open Sans"/>
                <a:ea typeface="Open Sans"/>
                <a:cs typeface="Open Sans"/>
                <a:sym typeface="Open Sans"/>
              </a:rPr>
              <a:t>Makers of Lighting, Accent Furniture, Wall Décor and Accessories</a:t>
            </a:r>
          </a:p>
        </p:txBody>
      </p:sp>
      <p:sp>
        <p:nvSpPr>
          <p:cNvPr id="6" name="TextBox 6"/>
          <p:cNvSpPr txBox="1"/>
          <p:nvPr/>
        </p:nvSpPr>
        <p:spPr>
          <a:xfrm>
            <a:off x="0" y="3390900"/>
            <a:ext cx="18288000" cy="1384995"/>
          </a:xfrm>
          <a:prstGeom prst="rect">
            <a:avLst/>
          </a:prstGeom>
        </p:spPr>
        <p:txBody>
          <a:bodyPr wrap="square" lIns="0" tIns="0" rIns="0" bIns="0" rtlCol="0" anchor="t">
            <a:spAutoFit/>
          </a:bodyPr>
          <a:lstStyle/>
          <a:p>
            <a:pPr algn="ctr">
              <a:lnSpc>
                <a:spcPts val="10832"/>
              </a:lnSpc>
            </a:pPr>
            <a:r>
              <a:rPr lang="en-US" sz="9600" dirty="0">
                <a:solidFill>
                  <a:srgbClr val="F4F6FC"/>
                </a:solidFill>
                <a:latin typeface="Playfair Display"/>
                <a:ea typeface="Playfair Display"/>
                <a:cs typeface="Playfair Display"/>
                <a:sym typeface="Playfair Display"/>
              </a:rPr>
              <a:t>Oliver McInroy &amp; 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7822553" y="8135882"/>
            <a:ext cx="930895" cy="929405"/>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4F6FC"/>
            </a:solidFill>
          </p:spPr>
          <p:txBody>
            <a:bodyPr/>
            <a:lstStyle/>
            <a:p>
              <a:endParaRPr lang="en-US"/>
            </a:p>
          </p:txBody>
        </p:sp>
      </p:grpSp>
      <p:sp>
        <p:nvSpPr>
          <p:cNvPr id="4" name="Freeform 4"/>
          <p:cNvSpPr/>
          <p:nvPr/>
        </p:nvSpPr>
        <p:spPr>
          <a:xfrm>
            <a:off x="11028614" y="2809774"/>
            <a:ext cx="3764946" cy="2425800"/>
          </a:xfrm>
          <a:custGeom>
            <a:avLst/>
            <a:gdLst/>
            <a:ahLst/>
            <a:cxnLst/>
            <a:rect l="l" t="t" r="r" b="b"/>
            <a:pathLst>
              <a:path w="3764946" h="2425800">
                <a:moveTo>
                  <a:pt x="0" y="0"/>
                </a:moveTo>
                <a:lnTo>
                  <a:pt x="3764946" y="0"/>
                </a:lnTo>
                <a:lnTo>
                  <a:pt x="3764946" y="2425800"/>
                </a:lnTo>
                <a:lnTo>
                  <a:pt x="0" y="2425800"/>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US"/>
          </a:p>
        </p:txBody>
      </p:sp>
      <p:sp>
        <p:nvSpPr>
          <p:cNvPr id="5" name="Freeform 5"/>
          <p:cNvSpPr/>
          <p:nvPr/>
        </p:nvSpPr>
        <p:spPr>
          <a:xfrm>
            <a:off x="14793560" y="2784618"/>
            <a:ext cx="3494440" cy="2450956"/>
          </a:xfrm>
          <a:custGeom>
            <a:avLst/>
            <a:gdLst/>
            <a:ahLst/>
            <a:cxnLst/>
            <a:rect l="l" t="t" r="r" b="b"/>
            <a:pathLst>
              <a:path w="3494440" h="2450956">
                <a:moveTo>
                  <a:pt x="0" y="0"/>
                </a:moveTo>
                <a:lnTo>
                  <a:pt x="3494440" y="0"/>
                </a:lnTo>
                <a:lnTo>
                  <a:pt x="3494440" y="2450956"/>
                </a:lnTo>
                <a:lnTo>
                  <a:pt x="0" y="2450956"/>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US"/>
          </a:p>
        </p:txBody>
      </p:sp>
      <p:sp>
        <p:nvSpPr>
          <p:cNvPr id="6" name="Freeform 6"/>
          <p:cNvSpPr/>
          <p:nvPr/>
        </p:nvSpPr>
        <p:spPr>
          <a:xfrm>
            <a:off x="9008454" y="0"/>
            <a:ext cx="9279546" cy="2809774"/>
          </a:xfrm>
          <a:custGeom>
            <a:avLst/>
            <a:gdLst/>
            <a:ahLst/>
            <a:cxnLst/>
            <a:rect l="l" t="t" r="r" b="b"/>
            <a:pathLst>
              <a:path w="9279546" h="2809774">
                <a:moveTo>
                  <a:pt x="0" y="0"/>
                </a:moveTo>
                <a:lnTo>
                  <a:pt x="9279546" y="0"/>
                </a:lnTo>
                <a:lnTo>
                  <a:pt x="9279546" y="2809774"/>
                </a:lnTo>
                <a:lnTo>
                  <a:pt x="0" y="2809774"/>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US"/>
          </a:p>
        </p:txBody>
      </p:sp>
      <p:sp>
        <p:nvSpPr>
          <p:cNvPr id="7" name="Freeform 7"/>
          <p:cNvSpPr/>
          <p:nvPr/>
        </p:nvSpPr>
        <p:spPr>
          <a:xfrm>
            <a:off x="0" y="2809774"/>
            <a:ext cx="5053936" cy="2425800"/>
          </a:xfrm>
          <a:custGeom>
            <a:avLst/>
            <a:gdLst/>
            <a:ahLst/>
            <a:cxnLst/>
            <a:rect l="l" t="t" r="r" b="b"/>
            <a:pathLst>
              <a:path w="5053936" h="2425800">
                <a:moveTo>
                  <a:pt x="0" y="0"/>
                </a:moveTo>
                <a:lnTo>
                  <a:pt x="5053936" y="0"/>
                </a:lnTo>
                <a:lnTo>
                  <a:pt x="5053936" y="2425800"/>
                </a:lnTo>
                <a:lnTo>
                  <a:pt x="0" y="2425800"/>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US"/>
          </a:p>
        </p:txBody>
      </p:sp>
      <p:sp>
        <p:nvSpPr>
          <p:cNvPr id="8" name="Freeform 8"/>
          <p:cNvSpPr/>
          <p:nvPr/>
        </p:nvSpPr>
        <p:spPr>
          <a:xfrm>
            <a:off x="0" y="0"/>
            <a:ext cx="9144000" cy="2809774"/>
          </a:xfrm>
          <a:custGeom>
            <a:avLst/>
            <a:gdLst/>
            <a:ahLst/>
            <a:cxnLst/>
            <a:rect l="l" t="t" r="r" b="b"/>
            <a:pathLst>
              <a:path w="9144000" h="2809774">
                <a:moveTo>
                  <a:pt x="0" y="0"/>
                </a:moveTo>
                <a:lnTo>
                  <a:pt x="9144000" y="0"/>
                </a:lnTo>
                <a:lnTo>
                  <a:pt x="9144000" y="2809774"/>
                </a:lnTo>
                <a:lnTo>
                  <a:pt x="0" y="2809774"/>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n-US"/>
          </a:p>
        </p:txBody>
      </p:sp>
      <p:sp>
        <p:nvSpPr>
          <p:cNvPr id="9" name="Freeform 9"/>
          <p:cNvSpPr/>
          <p:nvPr/>
        </p:nvSpPr>
        <p:spPr>
          <a:xfrm>
            <a:off x="5040548" y="2809774"/>
            <a:ext cx="6123611" cy="2425800"/>
          </a:xfrm>
          <a:custGeom>
            <a:avLst/>
            <a:gdLst/>
            <a:ahLst/>
            <a:cxnLst/>
            <a:rect l="l" t="t" r="r" b="b"/>
            <a:pathLst>
              <a:path w="6123611" h="2425800">
                <a:moveTo>
                  <a:pt x="0" y="0"/>
                </a:moveTo>
                <a:lnTo>
                  <a:pt x="6123611" y="0"/>
                </a:lnTo>
                <a:lnTo>
                  <a:pt x="6123611" y="2425800"/>
                </a:lnTo>
                <a:lnTo>
                  <a:pt x="0" y="2425800"/>
                </a:lnTo>
                <a:lnTo>
                  <a:pt x="0" y="0"/>
                </a:ln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0" name="TextBox 10"/>
          <p:cNvSpPr txBox="1"/>
          <p:nvPr/>
        </p:nvSpPr>
        <p:spPr>
          <a:xfrm>
            <a:off x="4063771" y="1998634"/>
            <a:ext cx="10160457" cy="1672436"/>
          </a:xfrm>
          <a:prstGeom prst="rect">
            <a:avLst/>
          </a:prstGeom>
        </p:spPr>
        <p:txBody>
          <a:bodyPr lIns="0" tIns="0" rIns="0" bIns="0" rtlCol="0" anchor="t">
            <a:spAutoFit/>
          </a:bodyPr>
          <a:lstStyle/>
          <a:p>
            <a:pPr algn="ctr">
              <a:lnSpc>
                <a:spcPts val="13247"/>
              </a:lnSpc>
            </a:pPr>
            <a:r>
              <a:rPr lang="en-US" sz="10683" b="1" dirty="0">
                <a:solidFill>
                  <a:srgbClr val="F4F6FC"/>
                </a:solidFill>
                <a:latin typeface="Inter Bold"/>
                <a:ea typeface="Inter Bold"/>
                <a:cs typeface="Inter Bold"/>
                <a:sym typeface="Inter Bold"/>
              </a:rPr>
              <a:t>ABOUT US</a:t>
            </a:r>
          </a:p>
        </p:txBody>
      </p:sp>
      <p:grpSp>
        <p:nvGrpSpPr>
          <p:cNvPr id="11" name="Group 11"/>
          <p:cNvGrpSpPr/>
          <p:nvPr/>
        </p:nvGrpSpPr>
        <p:grpSpPr>
          <a:xfrm>
            <a:off x="8521428" y="3454299"/>
            <a:ext cx="1245141" cy="47625"/>
            <a:chOff x="0" y="0"/>
            <a:chExt cx="327938" cy="12543"/>
          </a:xfrm>
        </p:grpSpPr>
        <p:sp>
          <p:nvSpPr>
            <p:cNvPr id="12" name="Freeform 12"/>
            <p:cNvSpPr/>
            <p:nvPr/>
          </p:nvSpPr>
          <p:spPr>
            <a:xfrm>
              <a:off x="0" y="0"/>
              <a:ext cx="327938" cy="12543"/>
            </a:xfrm>
            <a:custGeom>
              <a:avLst/>
              <a:gdLst/>
              <a:ahLst/>
              <a:cxnLst/>
              <a:rect l="l" t="t" r="r" b="b"/>
              <a:pathLst>
                <a:path w="327938" h="12543">
                  <a:moveTo>
                    <a:pt x="0" y="0"/>
                  </a:moveTo>
                  <a:lnTo>
                    <a:pt x="327938" y="0"/>
                  </a:lnTo>
                  <a:lnTo>
                    <a:pt x="327938" y="12543"/>
                  </a:lnTo>
                  <a:lnTo>
                    <a:pt x="0" y="12543"/>
                  </a:lnTo>
                  <a:close/>
                </a:path>
              </a:pathLst>
            </a:custGeom>
            <a:solidFill>
              <a:srgbClr val="F4F6FC"/>
            </a:solidFill>
          </p:spPr>
          <p:txBody>
            <a:bodyPr/>
            <a:lstStyle/>
            <a:p>
              <a:endParaRPr lang="en-US"/>
            </a:p>
          </p:txBody>
        </p:sp>
        <p:sp>
          <p:nvSpPr>
            <p:cNvPr id="13" name="TextBox 13"/>
            <p:cNvSpPr txBox="1"/>
            <p:nvPr/>
          </p:nvSpPr>
          <p:spPr>
            <a:xfrm>
              <a:off x="0" y="-38100"/>
              <a:ext cx="327938" cy="50643"/>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547894" y="6667500"/>
            <a:ext cx="17082391" cy="1513556"/>
          </a:xfrm>
          <a:prstGeom prst="rect">
            <a:avLst/>
          </a:prstGeom>
        </p:spPr>
        <p:txBody>
          <a:bodyPr lIns="0" tIns="0" rIns="0" bIns="0" rtlCol="0" anchor="t">
            <a:spAutoFit/>
          </a:bodyPr>
          <a:lstStyle/>
          <a:p>
            <a:pPr algn="ctr">
              <a:lnSpc>
                <a:spcPts val="2997"/>
              </a:lnSpc>
            </a:pPr>
            <a:r>
              <a:rPr lang="en-US" sz="2140" dirty="0">
                <a:solidFill>
                  <a:srgbClr val="F4F6FC"/>
                </a:solidFill>
                <a:latin typeface="Open Sans"/>
                <a:ea typeface="Open Sans"/>
                <a:cs typeface="Open Sans"/>
                <a:sym typeface="Open Sans"/>
              </a:rPr>
              <a:t>Oliver McInroy was established in 1992 as a handcrafted metal home décor manufacturer. Working with equal ease in most metals like Brass, Aluminum, Stainless steel, and Iron. Lighting, Accent Furniture, Wall Pieces, Decorative Hardware, and Sculptures. Our business is run by two business partners who have 3-decades experience in this field. We have two large factories having about a 100000sq ft covered area in the city of Moradabad.  </a:t>
            </a:r>
          </a:p>
        </p:txBody>
      </p:sp>
      <p:sp>
        <p:nvSpPr>
          <p:cNvPr id="15" name="TextBox 15"/>
          <p:cNvSpPr txBox="1"/>
          <p:nvPr/>
        </p:nvSpPr>
        <p:spPr>
          <a:xfrm>
            <a:off x="16040467" y="94448"/>
            <a:ext cx="2128848" cy="285081"/>
          </a:xfrm>
          <a:prstGeom prst="rect">
            <a:avLst/>
          </a:prstGeom>
        </p:spPr>
        <p:txBody>
          <a:bodyPr lIns="0" tIns="0" rIns="0" bIns="0" rtlCol="0" anchor="t">
            <a:spAutoFit/>
          </a:bodyPr>
          <a:lstStyle/>
          <a:p>
            <a:pPr algn="ctr">
              <a:lnSpc>
                <a:spcPts val="2364"/>
              </a:lnSpc>
            </a:pPr>
            <a:r>
              <a:rPr lang="en-US" sz="1689" dirty="0">
                <a:solidFill>
                  <a:srgbClr val="F4F6FC"/>
                </a:solidFill>
                <a:latin typeface="Playfair Display"/>
                <a:ea typeface="Playfair Display"/>
                <a:cs typeface="Playfair Display"/>
                <a:sym typeface="Playfair Display"/>
              </a:rPr>
              <a:t>Oliver McInroy &amp; 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1371600" y="544809"/>
            <a:ext cx="1539557" cy="1539557"/>
          </a:xfrm>
          <a:custGeom>
            <a:avLst/>
            <a:gdLst/>
            <a:ahLst/>
            <a:cxnLst/>
            <a:rect l="l" t="t" r="r" b="b"/>
            <a:pathLst>
              <a:path w="1539557" h="1539557">
                <a:moveTo>
                  <a:pt x="0" y="0"/>
                </a:moveTo>
                <a:lnTo>
                  <a:pt x="1539556" y="0"/>
                </a:lnTo>
                <a:lnTo>
                  <a:pt x="1539556" y="1539557"/>
                </a:lnTo>
                <a:lnTo>
                  <a:pt x="0" y="15395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7622562" y="693929"/>
            <a:ext cx="1652463" cy="1235216"/>
          </a:xfrm>
          <a:custGeom>
            <a:avLst/>
            <a:gdLst/>
            <a:ahLst/>
            <a:cxnLst/>
            <a:rect l="l" t="t" r="r" b="b"/>
            <a:pathLst>
              <a:path w="1652463" h="1235216">
                <a:moveTo>
                  <a:pt x="0" y="0"/>
                </a:moveTo>
                <a:lnTo>
                  <a:pt x="1652463" y="0"/>
                </a:lnTo>
                <a:lnTo>
                  <a:pt x="1652463" y="1235217"/>
                </a:lnTo>
                <a:lnTo>
                  <a:pt x="0" y="1235217"/>
                </a:lnTo>
                <a:lnTo>
                  <a:pt x="0" y="0"/>
                </a:lnTo>
                <a:close/>
              </a:path>
            </a:pathLst>
          </a:custGeom>
          <a: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4448568" y="647072"/>
            <a:ext cx="1430108" cy="1437294"/>
          </a:xfrm>
          <a:custGeom>
            <a:avLst/>
            <a:gdLst/>
            <a:ahLst/>
            <a:cxnLst/>
            <a:rect l="l" t="t" r="r" b="b"/>
            <a:pathLst>
              <a:path w="1430108" h="1437294">
                <a:moveTo>
                  <a:pt x="0" y="0"/>
                </a:moveTo>
                <a:lnTo>
                  <a:pt x="1430108" y="0"/>
                </a:lnTo>
                <a:lnTo>
                  <a:pt x="1430108" y="1437295"/>
                </a:lnTo>
                <a:lnTo>
                  <a:pt x="0" y="1437295"/>
                </a:lnTo>
                <a:lnTo>
                  <a:pt x="0" y="0"/>
                </a:lnTo>
                <a:close/>
              </a:path>
            </a:pathLst>
          </a:custGeom>
          <a: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358544" y="5588483"/>
            <a:ext cx="1565664" cy="1565664"/>
          </a:xfrm>
          <a:custGeom>
            <a:avLst/>
            <a:gdLst/>
            <a:ahLst/>
            <a:cxnLst/>
            <a:rect l="l" t="t" r="r" b="b"/>
            <a:pathLst>
              <a:path w="1565664" h="1565664">
                <a:moveTo>
                  <a:pt x="0" y="0"/>
                </a:moveTo>
                <a:lnTo>
                  <a:pt x="1565664" y="0"/>
                </a:lnTo>
                <a:lnTo>
                  <a:pt x="1565664" y="1565663"/>
                </a:lnTo>
                <a:lnTo>
                  <a:pt x="0" y="156566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7472657" y="5678746"/>
            <a:ext cx="1952276" cy="1725324"/>
          </a:xfrm>
          <a:custGeom>
            <a:avLst/>
            <a:gdLst/>
            <a:ahLst/>
            <a:cxnLst/>
            <a:rect l="l" t="t" r="r" b="b"/>
            <a:pathLst>
              <a:path w="1952276" h="1725324">
                <a:moveTo>
                  <a:pt x="0" y="0"/>
                </a:moveTo>
                <a:lnTo>
                  <a:pt x="1952276" y="0"/>
                </a:lnTo>
                <a:lnTo>
                  <a:pt x="1952276" y="1725324"/>
                </a:lnTo>
                <a:lnTo>
                  <a:pt x="0" y="172532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4269886" y="5524500"/>
            <a:ext cx="1787471" cy="1693629"/>
          </a:xfrm>
          <a:custGeom>
            <a:avLst/>
            <a:gdLst/>
            <a:ahLst/>
            <a:cxnLst/>
            <a:rect l="l" t="t" r="r" b="b"/>
            <a:pathLst>
              <a:path w="1787471" h="1693629">
                <a:moveTo>
                  <a:pt x="0" y="0"/>
                </a:moveTo>
                <a:lnTo>
                  <a:pt x="1787471" y="0"/>
                </a:lnTo>
                <a:lnTo>
                  <a:pt x="1787471" y="1693628"/>
                </a:lnTo>
                <a:lnTo>
                  <a:pt x="0" y="1693628"/>
                </a:lnTo>
                <a:lnTo>
                  <a:pt x="0" y="0"/>
                </a:lnTo>
                <a:close/>
              </a:path>
            </a:pathLst>
          </a:custGeom>
          <a:blipFill>
            <a:blip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a:blipFill>
        </p:spPr>
        <p:txBody>
          <a:bodyPr/>
          <a:lstStyle/>
          <a:p>
            <a:endParaRPr lang="en-US"/>
          </a:p>
        </p:txBody>
      </p:sp>
      <p:sp>
        <p:nvSpPr>
          <p:cNvPr id="8" name="TextBox 8"/>
          <p:cNvSpPr txBox="1"/>
          <p:nvPr/>
        </p:nvSpPr>
        <p:spPr>
          <a:xfrm>
            <a:off x="1829322" y="2153272"/>
            <a:ext cx="624111" cy="1335403"/>
          </a:xfrm>
          <a:prstGeom prst="rect">
            <a:avLst/>
          </a:prstGeom>
        </p:spPr>
        <p:txBody>
          <a:bodyPr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2</a:t>
            </a:r>
          </a:p>
        </p:txBody>
      </p:sp>
      <p:sp>
        <p:nvSpPr>
          <p:cNvPr id="9" name="TextBox 9"/>
          <p:cNvSpPr txBox="1"/>
          <p:nvPr/>
        </p:nvSpPr>
        <p:spPr>
          <a:xfrm>
            <a:off x="13003671" y="2153272"/>
            <a:ext cx="4178424" cy="1335403"/>
          </a:xfrm>
          <a:prstGeom prst="rect">
            <a:avLst/>
          </a:prstGeom>
        </p:spPr>
        <p:txBody>
          <a:bodyPr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100,000</a:t>
            </a:r>
          </a:p>
        </p:txBody>
      </p:sp>
      <p:sp>
        <p:nvSpPr>
          <p:cNvPr id="10" name="TextBox 10"/>
          <p:cNvSpPr txBox="1"/>
          <p:nvPr/>
        </p:nvSpPr>
        <p:spPr>
          <a:xfrm>
            <a:off x="7250336" y="7308820"/>
            <a:ext cx="2653829" cy="1335403"/>
          </a:xfrm>
          <a:prstGeom prst="rect">
            <a:avLst/>
          </a:prstGeom>
        </p:spPr>
        <p:txBody>
          <a:bodyPr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200+</a:t>
            </a:r>
          </a:p>
        </p:txBody>
      </p:sp>
      <p:sp>
        <p:nvSpPr>
          <p:cNvPr id="11" name="TextBox 11"/>
          <p:cNvSpPr txBox="1"/>
          <p:nvPr/>
        </p:nvSpPr>
        <p:spPr>
          <a:xfrm>
            <a:off x="773646" y="7334742"/>
            <a:ext cx="2735460" cy="1283557"/>
          </a:xfrm>
          <a:prstGeom prst="rect">
            <a:avLst/>
          </a:prstGeom>
        </p:spPr>
        <p:txBody>
          <a:bodyPr wrap="square"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5+</a:t>
            </a:r>
          </a:p>
        </p:txBody>
      </p:sp>
      <p:sp>
        <p:nvSpPr>
          <p:cNvPr id="12" name="TextBox 12"/>
          <p:cNvSpPr txBox="1"/>
          <p:nvPr/>
        </p:nvSpPr>
        <p:spPr>
          <a:xfrm>
            <a:off x="7119759" y="2153272"/>
            <a:ext cx="2658070" cy="1335403"/>
          </a:xfrm>
          <a:prstGeom prst="rect">
            <a:avLst/>
          </a:prstGeom>
        </p:spPr>
        <p:txBody>
          <a:bodyPr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450+</a:t>
            </a:r>
          </a:p>
        </p:txBody>
      </p:sp>
      <p:sp>
        <p:nvSpPr>
          <p:cNvPr id="13" name="TextBox 13"/>
          <p:cNvSpPr txBox="1"/>
          <p:nvPr/>
        </p:nvSpPr>
        <p:spPr>
          <a:xfrm>
            <a:off x="12926467" y="7308820"/>
            <a:ext cx="4332833" cy="1335403"/>
          </a:xfrm>
          <a:prstGeom prst="rect">
            <a:avLst/>
          </a:prstGeom>
        </p:spPr>
        <p:txBody>
          <a:bodyPr lIns="0" tIns="0" rIns="0" bIns="0" rtlCol="0" anchor="t">
            <a:spAutoFit/>
          </a:bodyPr>
          <a:lstStyle/>
          <a:p>
            <a:pPr algn="ctr">
              <a:lnSpc>
                <a:spcPts val="10920"/>
              </a:lnSpc>
            </a:pPr>
            <a:r>
              <a:rPr lang="en-US" sz="7800" b="1" dirty="0">
                <a:solidFill>
                  <a:srgbClr val="FFFFFF"/>
                </a:solidFill>
                <a:latin typeface="Inter Bold"/>
                <a:ea typeface="Inter Bold"/>
                <a:cs typeface="Inter Bold"/>
                <a:sym typeface="Inter Bold"/>
              </a:rPr>
              <a:t>200,000</a:t>
            </a:r>
          </a:p>
        </p:txBody>
      </p:sp>
      <p:sp>
        <p:nvSpPr>
          <p:cNvPr id="14" name="TextBox 14"/>
          <p:cNvSpPr txBox="1"/>
          <p:nvPr/>
        </p:nvSpPr>
        <p:spPr>
          <a:xfrm>
            <a:off x="773646" y="3435167"/>
            <a:ext cx="2735461" cy="679450"/>
          </a:xfrm>
          <a:prstGeom prst="rect">
            <a:avLst/>
          </a:prstGeom>
        </p:spPr>
        <p:txBody>
          <a:bodyPr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FACTORIES</a:t>
            </a:r>
          </a:p>
        </p:txBody>
      </p:sp>
      <p:sp>
        <p:nvSpPr>
          <p:cNvPr id="15" name="TextBox 15"/>
          <p:cNvSpPr txBox="1"/>
          <p:nvPr/>
        </p:nvSpPr>
        <p:spPr>
          <a:xfrm>
            <a:off x="13365665" y="8654384"/>
            <a:ext cx="3595911" cy="679450"/>
          </a:xfrm>
          <a:prstGeom prst="rect">
            <a:avLst/>
          </a:prstGeom>
        </p:spPr>
        <p:txBody>
          <a:bodyPr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ANNUAL UNITS</a:t>
            </a:r>
          </a:p>
        </p:txBody>
      </p:sp>
      <p:sp>
        <p:nvSpPr>
          <p:cNvPr id="16" name="TextBox 16"/>
          <p:cNvSpPr txBox="1"/>
          <p:nvPr/>
        </p:nvSpPr>
        <p:spPr>
          <a:xfrm>
            <a:off x="5728849" y="8654384"/>
            <a:ext cx="5439891" cy="679450"/>
          </a:xfrm>
          <a:prstGeom prst="rect">
            <a:avLst/>
          </a:prstGeom>
        </p:spPr>
        <p:txBody>
          <a:bodyPr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CONTAINER CAPACITY</a:t>
            </a:r>
          </a:p>
        </p:txBody>
      </p:sp>
      <p:sp>
        <p:nvSpPr>
          <p:cNvPr id="17" name="TextBox 17"/>
          <p:cNvSpPr txBox="1"/>
          <p:nvPr/>
        </p:nvSpPr>
        <p:spPr>
          <a:xfrm>
            <a:off x="14338771" y="3435167"/>
            <a:ext cx="1508224" cy="679450"/>
          </a:xfrm>
          <a:prstGeom prst="rect">
            <a:avLst/>
          </a:prstGeom>
        </p:spPr>
        <p:txBody>
          <a:bodyPr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SQ FT </a:t>
            </a:r>
          </a:p>
        </p:txBody>
      </p:sp>
      <p:sp>
        <p:nvSpPr>
          <p:cNvPr id="18" name="TextBox 18"/>
          <p:cNvSpPr txBox="1"/>
          <p:nvPr/>
        </p:nvSpPr>
        <p:spPr>
          <a:xfrm>
            <a:off x="343420" y="8644223"/>
            <a:ext cx="3595911" cy="1372683"/>
          </a:xfrm>
          <a:prstGeom prst="rect">
            <a:avLst/>
          </a:prstGeom>
        </p:spPr>
        <p:txBody>
          <a:bodyPr wrap="square"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PRODUCTION</a:t>
            </a:r>
          </a:p>
          <a:p>
            <a:pPr algn="ctr">
              <a:lnSpc>
                <a:spcPts val="5600"/>
              </a:lnSpc>
            </a:pPr>
            <a:r>
              <a:rPr lang="en-US" sz="4000" dirty="0">
                <a:solidFill>
                  <a:srgbClr val="FFFFFF"/>
                </a:solidFill>
                <a:latin typeface="Playfair Display"/>
                <a:ea typeface="Playfair Display"/>
                <a:cs typeface="Playfair Display"/>
                <a:sym typeface="Playfair Display"/>
              </a:rPr>
              <a:t>LINES</a:t>
            </a:r>
          </a:p>
        </p:txBody>
      </p:sp>
      <p:sp>
        <p:nvSpPr>
          <p:cNvPr id="19" name="TextBox 19"/>
          <p:cNvSpPr txBox="1"/>
          <p:nvPr/>
        </p:nvSpPr>
        <p:spPr>
          <a:xfrm>
            <a:off x="7005015" y="3435167"/>
            <a:ext cx="3144470" cy="679450"/>
          </a:xfrm>
          <a:prstGeom prst="rect">
            <a:avLst/>
          </a:prstGeom>
        </p:spPr>
        <p:txBody>
          <a:bodyPr wrap="square" lIns="0" tIns="0" rIns="0" bIns="0" rtlCol="0" anchor="t">
            <a:spAutoFit/>
          </a:bodyPr>
          <a:lstStyle/>
          <a:p>
            <a:pPr algn="ctr">
              <a:lnSpc>
                <a:spcPts val="5600"/>
              </a:lnSpc>
            </a:pPr>
            <a:r>
              <a:rPr lang="en-US" sz="4000" dirty="0">
                <a:solidFill>
                  <a:srgbClr val="FFFFFF"/>
                </a:solidFill>
                <a:latin typeface="Playfair Display"/>
                <a:ea typeface="Playfair Display"/>
                <a:cs typeface="Playfair Display"/>
                <a:sym typeface="Playfair Display"/>
              </a:rPr>
              <a:t>EMPLOYEES</a:t>
            </a:r>
          </a:p>
        </p:txBody>
      </p:sp>
      <p:sp>
        <p:nvSpPr>
          <p:cNvPr id="20" name="TextBox 20"/>
          <p:cNvSpPr txBox="1"/>
          <p:nvPr/>
        </p:nvSpPr>
        <p:spPr>
          <a:xfrm>
            <a:off x="16040467" y="94448"/>
            <a:ext cx="2128848" cy="285081"/>
          </a:xfrm>
          <a:prstGeom prst="rect">
            <a:avLst/>
          </a:prstGeom>
        </p:spPr>
        <p:txBody>
          <a:bodyPr lIns="0" tIns="0" rIns="0" bIns="0" rtlCol="0" anchor="t">
            <a:spAutoFit/>
          </a:bodyPr>
          <a:lstStyle/>
          <a:p>
            <a:pPr algn="ctr">
              <a:lnSpc>
                <a:spcPts val="2364"/>
              </a:lnSpc>
            </a:pPr>
            <a:r>
              <a:rPr lang="en-US" sz="1689" dirty="0">
                <a:solidFill>
                  <a:srgbClr val="F4F6FC"/>
                </a:solidFill>
                <a:latin typeface="Playfair Display"/>
                <a:ea typeface="Playfair Display"/>
                <a:cs typeface="Playfair Display"/>
                <a:sym typeface="Playfair Display"/>
              </a:rPr>
              <a:t>Oliver McInroy &amp; 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175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7822553" y="8135882"/>
            <a:ext cx="930895" cy="929405"/>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233DFF"/>
            </a:solidFill>
          </p:spPr>
          <p:txBody>
            <a:bodyPr/>
            <a:lstStyle/>
            <a:p>
              <a:endParaRPr lang="en-US"/>
            </a:p>
          </p:txBody>
        </p:sp>
      </p:grpSp>
      <p:sp>
        <p:nvSpPr>
          <p:cNvPr id="7" name="Freeform 7"/>
          <p:cNvSpPr/>
          <p:nvPr/>
        </p:nvSpPr>
        <p:spPr>
          <a:xfrm>
            <a:off x="493883" y="5657776"/>
            <a:ext cx="6234515" cy="777925"/>
          </a:xfrm>
          <a:custGeom>
            <a:avLst/>
            <a:gdLst/>
            <a:ahLst/>
            <a:cxnLst/>
            <a:rect l="l" t="t" r="r" b="b"/>
            <a:pathLst>
              <a:path w="6234515" h="777925">
                <a:moveTo>
                  <a:pt x="0" y="0"/>
                </a:moveTo>
                <a:lnTo>
                  <a:pt x="6234515" y="0"/>
                </a:lnTo>
                <a:lnTo>
                  <a:pt x="6234515" y="777925"/>
                </a:lnTo>
                <a:lnTo>
                  <a:pt x="0" y="777925"/>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US"/>
          </a:p>
        </p:txBody>
      </p:sp>
      <p:sp>
        <p:nvSpPr>
          <p:cNvPr id="8" name="Freeform 8"/>
          <p:cNvSpPr/>
          <p:nvPr/>
        </p:nvSpPr>
        <p:spPr>
          <a:xfrm>
            <a:off x="493883" y="2400300"/>
            <a:ext cx="4022984" cy="1053639"/>
          </a:xfrm>
          <a:custGeom>
            <a:avLst/>
            <a:gdLst/>
            <a:ahLst/>
            <a:cxnLst/>
            <a:rect l="l" t="t" r="r" b="b"/>
            <a:pathLst>
              <a:path w="4022984" h="1053639">
                <a:moveTo>
                  <a:pt x="0" y="0"/>
                </a:moveTo>
                <a:lnTo>
                  <a:pt x="4022984" y="0"/>
                </a:lnTo>
                <a:lnTo>
                  <a:pt x="4022984" y="1053639"/>
                </a:lnTo>
                <a:lnTo>
                  <a:pt x="0" y="1053639"/>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endParaRPr lang="en-US"/>
          </a:p>
        </p:txBody>
      </p:sp>
      <p:sp>
        <p:nvSpPr>
          <p:cNvPr id="9" name="Freeform 9"/>
          <p:cNvSpPr/>
          <p:nvPr/>
        </p:nvSpPr>
        <p:spPr>
          <a:xfrm>
            <a:off x="493883" y="3860317"/>
            <a:ext cx="2563634" cy="1393820"/>
          </a:xfrm>
          <a:custGeom>
            <a:avLst/>
            <a:gdLst/>
            <a:ahLst/>
            <a:cxnLst/>
            <a:rect l="l" t="t" r="r" b="b"/>
            <a:pathLst>
              <a:path w="2563634" h="1393820">
                <a:moveTo>
                  <a:pt x="0" y="0"/>
                </a:moveTo>
                <a:lnTo>
                  <a:pt x="2563634" y="0"/>
                </a:lnTo>
                <a:lnTo>
                  <a:pt x="2563634" y="1393821"/>
                </a:lnTo>
                <a:lnTo>
                  <a:pt x="0" y="1393821"/>
                </a:lnTo>
                <a:lnTo>
                  <a:pt x="0" y="0"/>
                </a:lnTo>
                <a:close/>
              </a:path>
            </a:pathLst>
          </a:custGeom>
          <a:blipFill>
            <a:blip r:embed="rId4"/>
            <a:stretch>
              <a:fillRect/>
            </a:stretch>
          </a:blipFill>
        </p:spPr>
        <p:txBody>
          <a:bodyPr/>
          <a:lstStyle/>
          <a:p>
            <a:endParaRPr lang="en-US"/>
          </a:p>
        </p:txBody>
      </p:sp>
      <p:sp>
        <p:nvSpPr>
          <p:cNvPr id="10" name="Freeform 10"/>
          <p:cNvSpPr/>
          <p:nvPr/>
        </p:nvSpPr>
        <p:spPr>
          <a:xfrm>
            <a:off x="9105274" y="3857578"/>
            <a:ext cx="8719475" cy="1396559"/>
          </a:xfrm>
          <a:custGeom>
            <a:avLst/>
            <a:gdLst/>
            <a:ahLst/>
            <a:cxnLst/>
            <a:rect l="l" t="t" r="r" b="b"/>
            <a:pathLst>
              <a:path w="7217683" h="1118741">
                <a:moveTo>
                  <a:pt x="0" y="0"/>
                </a:moveTo>
                <a:lnTo>
                  <a:pt x="7217683" y="0"/>
                </a:lnTo>
                <a:lnTo>
                  <a:pt x="7217683" y="1118741"/>
                </a:lnTo>
                <a:lnTo>
                  <a:pt x="0" y="1118741"/>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1" name="Freeform 11"/>
          <p:cNvSpPr/>
          <p:nvPr/>
        </p:nvSpPr>
        <p:spPr>
          <a:xfrm>
            <a:off x="3440916" y="3857578"/>
            <a:ext cx="5280958" cy="1396559"/>
          </a:xfrm>
          <a:custGeom>
            <a:avLst/>
            <a:gdLst/>
            <a:ahLst/>
            <a:cxnLst/>
            <a:rect l="l" t="t" r="r" b="b"/>
            <a:pathLst>
              <a:path w="5125107" h="1287683">
                <a:moveTo>
                  <a:pt x="0" y="0"/>
                </a:moveTo>
                <a:lnTo>
                  <a:pt x="5125108" y="0"/>
                </a:lnTo>
                <a:lnTo>
                  <a:pt x="5125108" y="1287684"/>
                </a:lnTo>
                <a:lnTo>
                  <a:pt x="0" y="1287684"/>
                </a:lnTo>
                <a:lnTo>
                  <a:pt x="0" y="0"/>
                </a:ln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2" name="Freeform 12"/>
          <p:cNvSpPr/>
          <p:nvPr/>
        </p:nvSpPr>
        <p:spPr>
          <a:xfrm>
            <a:off x="4999413" y="2400300"/>
            <a:ext cx="5125107" cy="1053639"/>
          </a:xfrm>
          <a:custGeom>
            <a:avLst/>
            <a:gdLst/>
            <a:ahLst/>
            <a:cxnLst/>
            <a:rect l="l" t="t" r="r" b="b"/>
            <a:pathLst>
              <a:path w="5125107" h="1053639">
                <a:moveTo>
                  <a:pt x="0" y="0"/>
                </a:moveTo>
                <a:lnTo>
                  <a:pt x="5125108" y="0"/>
                </a:lnTo>
                <a:lnTo>
                  <a:pt x="5125108" y="1053639"/>
                </a:lnTo>
                <a:lnTo>
                  <a:pt x="0" y="1053639"/>
                </a:lnTo>
                <a:lnTo>
                  <a:pt x="0" y="0"/>
                </a:ln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3" name="Freeform 13"/>
          <p:cNvSpPr/>
          <p:nvPr/>
        </p:nvSpPr>
        <p:spPr>
          <a:xfrm>
            <a:off x="6784798" y="5696328"/>
            <a:ext cx="4390907" cy="4390907"/>
          </a:xfrm>
          <a:custGeom>
            <a:avLst/>
            <a:gdLst/>
            <a:ahLst/>
            <a:cxnLst/>
            <a:rect l="l" t="t" r="r" b="b"/>
            <a:pathLst>
              <a:path w="4390907" h="4390907">
                <a:moveTo>
                  <a:pt x="0" y="0"/>
                </a:moveTo>
                <a:lnTo>
                  <a:pt x="4390907" y="0"/>
                </a:lnTo>
                <a:lnTo>
                  <a:pt x="4390907" y="4390908"/>
                </a:lnTo>
                <a:lnTo>
                  <a:pt x="0" y="439090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4" name="Freeform 14"/>
          <p:cNvSpPr/>
          <p:nvPr/>
        </p:nvSpPr>
        <p:spPr>
          <a:xfrm>
            <a:off x="13445305" y="6839338"/>
            <a:ext cx="4196448" cy="2104885"/>
          </a:xfrm>
          <a:custGeom>
            <a:avLst/>
            <a:gdLst/>
            <a:ahLst/>
            <a:cxnLst/>
            <a:rect l="l" t="t" r="r" b="b"/>
            <a:pathLst>
              <a:path w="4196448" h="2104885">
                <a:moveTo>
                  <a:pt x="0" y="0"/>
                </a:moveTo>
                <a:lnTo>
                  <a:pt x="4196448" y="0"/>
                </a:lnTo>
                <a:lnTo>
                  <a:pt x="4196448" y="2104885"/>
                </a:lnTo>
                <a:lnTo>
                  <a:pt x="0" y="2104885"/>
                </a:lnTo>
                <a:lnTo>
                  <a:pt x="0" y="0"/>
                </a:lnTo>
                <a:close/>
              </a:path>
            </a:pathLst>
          </a:custGeom>
          <a:blipFill>
            <a:blip r:embed="rId9"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5" name="Freeform 15"/>
          <p:cNvSpPr/>
          <p:nvPr/>
        </p:nvSpPr>
        <p:spPr>
          <a:xfrm>
            <a:off x="10607066" y="2417357"/>
            <a:ext cx="7217683" cy="1036582"/>
          </a:xfrm>
          <a:custGeom>
            <a:avLst/>
            <a:gdLst/>
            <a:ahLst/>
            <a:cxnLst/>
            <a:rect l="l" t="t" r="r" b="b"/>
            <a:pathLst>
              <a:path w="7217683" h="1036582">
                <a:moveTo>
                  <a:pt x="0" y="0"/>
                </a:moveTo>
                <a:lnTo>
                  <a:pt x="7217683" y="0"/>
                </a:lnTo>
                <a:lnTo>
                  <a:pt x="7217683" y="1036583"/>
                </a:lnTo>
                <a:lnTo>
                  <a:pt x="0" y="1036583"/>
                </a:lnTo>
                <a:lnTo>
                  <a:pt x="0" y="0"/>
                </a:lnTo>
                <a:close/>
              </a:path>
            </a:pathLst>
          </a:custGeom>
          <a:blipFill>
            <a:blip r:embed="rId10"/>
            <a:stretch>
              <a:fillRect/>
            </a:stretch>
          </a:blipFill>
        </p:spPr>
        <p:txBody>
          <a:bodyPr/>
          <a:lstStyle/>
          <a:p>
            <a:endParaRPr lang="en-US"/>
          </a:p>
        </p:txBody>
      </p:sp>
      <p:sp>
        <p:nvSpPr>
          <p:cNvPr id="16" name="Freeform 16"/>
          <p:cNvSpPr/>
          <p:nvPr/>
        </p:nvSpPr>
        <p:spPr>
          <a:xfrm>
            <a:off x="678547" y="6839338"/>
            <a:ext cx="3838320" cy="2104885"/>
          </a:xfrm>
          <a:custGeom>
            <a:avLst/>
            <a:gdLst/>
            <a:ahLst/>
            <a:cxnLst/>
            <a:rect l="l" t="t" r="r" b="b"/>
            <a:pathLst>
              <a:path w="3838320" h="2104885">
                <a:moveTo>
                  <a:pt x="0" y="0"/>
                </a:moveTo>
                <a:lnTo>
                  <a:pt x="3838320" y="0"/>
                </a:lnTo>
                <a:lnTo>
                  <a:pt x="3838320" y="2104885"/>
                </a:lnTo>
                <a:lnTo>
                  <a:pt x="0" y="2104885"/>
                </a:lnTo>
                <a:lnTo>
                  <a:pt x="0" y="0"/>
                </a:lnTo>
                <a:close/>
              </a:path>
            </a:pathLst>
          </a:custGeom>
          <a:blipFill>
            <a:blip r:embed="rId11"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7" name="Freeform 17"/>
          <p:cNvSpPr/>
          <p:nvPr/>
        </p:nvSpPr>
        <p:spPr>
          <a:xfrm>
            <a:off x="8958448" y="5657776"/>
            <a:ext cx="8866301" cy="777925"/>
          </a:xfrm>
          <a:custGeom>
            <a:avLst/>
            <a:gdLst/>
            <a:ahLst/>
            <a:cxnLst/>
            <a:rect l="l" t="t" r="r" b="b"/>
            <a:pathLst>
              <a:path w="7349086" h="748210">
                <a:moveTo>
                  <a:pt x="0" y="0"/>
                </a:moveTo>
                <a:lnTo>
                  <a:pt x="7349087" y="0"/>
                </a:lnTo>
                <a:lnTo>
                  <a:pt x="7349087" y="748210"/>
                </a:lnTo>
                <a:lnTo>
                  <a:pt x="0" y="748210"/>
                </a:lnTo>
                <a:lnTo>
                  <a:pt x="0" y="0"/>
                </a:lnTo>
                <a:close/>
              </a:path>
            </a:pathLst>
          </a:custGeom>
          <a:blipFill>
            <a:blip r:embed="rId12"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9" name="TextBox 19"/>
          <p:cNvSpPr txBox="1"/>
          <p:nvPr/>
        </p:nvSpPr>
        <p:spPr>
          <a:xfrm>
            <a:off x="16040467" y="94448"/>
            <a:ext cx="2128848" cy="285081"/>
          </a:xfrm>
          <a:prstGeom prst="rect">
            <a:avLst/>
          </a:prstGeom>
        </p:spPr>
        <p:txBody>
          <a:bodyPr wrap="square" lIns="0" tIns="0" rIns="0" bIns="0" rtlCol="0" anchor="t">
            <a:spAutoFit/>
          </a:bodyPr>
          <a:lstStyle/>
          <a:p>
            <a:pPr algn="ctr">
              <a:lnSpc>
                <a:spcPts val="2364"/>
              </a:lnSpc>
            </a:pPr>
            <a:r>
              <a:rPr lang="en-US" sz="1689" dirty="0">
                <a:solidFill>
                  <a:srgbClr val="F4F6FC"/>
                </a:solidFill>
                <a:latin typeface="Playfair Display"/>
                <a:ea typeface="Playfair Display"/>
                <a:cs typeface="Playfair Display"/>
                <a:sym typeface="Playfair Display"/>
              </a:rPr>
              <a:t>Oliver McInroy &amp; Co.</a:t>
            </a:r>
          </a:p>
        </p:txBody>
      </p:sp>
      <p:sp>
        <p:nvSpPr>
          <p:cNvPr id="26" name="TextBox 8"/>
          <p:cNvSpPr txBox="1"/>
          <p:nvPr/>
        </p:nvSpPr>
        <p:spPr>
          <a:xfrm>
            <a:off x="3700587" y="379529"/>
            <a:ext cx="10886826" cy="885563"/>
          </a:xfrm>
          <a:prstGeom prst="rect">
            <a:avLst/>
          </a:prstGeom>
        </p:spPr>
        <p:txBody>
          <a:bodyPr wrap="square" lIns="0" tIns="0" rIns="0" bIns="0" rtlCol="0" anchor="t">
            <a:spAutoFit/>
          </a:bodyPr>
          <a:lstStyle/>
          <a:p>
            <a:pPr algn="ctr">
              <a:lnSpc>
                <a:spcPts val="7440"/>
              </a:lnSpc>
            </a:pPr>
            <a:r>
              <a:rPr lang="en-US" sz="6000" b="1" dirty="0">
                <a:solidFill>
                  <a:srgbClr val="F4F6FC"/>
                </a:solidFill>
                <a:latin typeface="Playfair Display Bold"/>
                <a:ea typeface="Playfair Display Bold"/>
                <a:cs typeface="Playfair Display Bold"/>
                <a:sym typeface="Playfair Display Bold"/>
              </a:rPr>
              <a:t>OUR CLIENTS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7822553" y="8135882"/>
            <a:ext cx="930895" cy="929405"/>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4F6FC"/>
            </a:solidFill>
          </p:spPr>
          <p:txBody>
            <a:bodyPr/>
            <a:lstStyle/>
            <a:p>
              <a:endParaRPr lang="en-US"/>
            </a:p>
          </p:txBody>
        </p:sp>
      </p:grpSp>
      <p:sp>
        <p:nvSpPr>
          <p:cNvPr id="7" name="Freeform 7"/>
          <p:cNvSpPr/>
          <p:nvPr/>
        </p:nvSpPr>
        <p:spPr>
          <a:xfrm>
            <a:off x="2900328" y="4432112"/>
            <a:ext cx="596617" cy="596617"/>
          </a:xfrm>
          <a:custGeom>
            <a:avLst/>
            <a:gdLst/>
            <a:ahLst/>
            <a:cxnLst/>
            <a:rect l="l" t="t" r="r" b="b"/>
            <a:pathLst>
              <a:path w="596617" h="596617">
                <a:moveTo>
                  <a:pt x="0" y="0"/>
                </a:moveTo>
                <a:lnTo>
                  <a:pt x="596617" y="0"/>
                </a:lnTo>
                <a:lnTo>
                  <a:pt x="596617" y="596616"/>
                </a:lnTo>
                <a:lnTo>
                  <a:pt x="0" y="5966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Freeform 8"/>
          <p:cNvSpPr/>
          <p:nvPr/>
        </p:nvSpPr>
        <p:spPr>
          <a:xfrm>
            <a:off x="2900328" y="6977802"/>
            <a:ext cx="596617" cy="596617"/>
          </a:xfrm>
          <a:custGeom>
            <a:avLst/>
            <a:gdLst/>
            <a:ahLst/>
            <a:cxnLst/>
            <a:rect l="l" t="t" r="r" b="b"/>
            <a:pathLst>
              <a:path w="596617" h="596617">
                <a:moveTo>
                  <a:pt x="0" y="0"/>
                </a:moveTo>
                <a:lnTo>
                  <a:pt x="596617" y="0"/>
                </a:lnTo>
                <a:lnTo>
                  <a:pt x="596617" y="596616"/>
                </a:lnTo>
                <a:lnTo>
                  <a:pt x="0" y="5966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0407870" y="4514982"/>
            <a:ext cx="762001" cy="430877"/>
          </a:xfrm>
          <a:custGeom>
            <a:avLst/>
            <a:gdLst/>
            <a:ahLst/>
            <a:cxnLst/>
            <a:rect l="l" t="t" r="r" b="b"/>
            <a:pathLst>
              <a:path w="762001" h="430877">
                <a:moveTo>
                  <a:pt x="0" y="0"/>
                </a:moveTo>
                <a:lnTo>
                  <a:pt x="762001" y="0"/>
                </a:lnTo>
                <a:lnTo>
                  <a:pt x="762001" y="430876"/>
                </a:lnTo>
                <a:lnTo>
                  <a:pt x="0" y="43087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768701" y="7882656"/>
            <a:ext cx="1171762" cy="641273"/>
          </a:xfrm>
          <a:custGeom>
            <a:avLst/>
            <a:gdLst/>
            <a:ahLst/>
            <a:cxnLst/>
            <a:rect l="l" t="t" r="r" b="b"/>
            <a:pathLst>
              <a:path w="1171762" h="641273">
                <a:moveTo>
                  <a:pt x="0" y="0"/>
                </a:moveTo>
                <a:lnTo>
                  <a:pt x="1171762" y="0"/>
                </a:lnTo>
                <a:lnTo>
                  <a:pt x="1171762" y="641273"/>
                </a:lnTo>
                <a:lnTo>
                  <a:pt x="0" y="641273"/>
                </a:lnTo>
                <a:lnTo>
                  <a:pt x="0" y="0"/>
                </a:lnTo>
                <a:close/>
              </a:path>
            </a:pathLst>
          </a:custGeom>
          <a: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5058838" y="7882657"/>
            <a:ext cx="1171762" cy="641273"/>
          </a:xfrm>
          <a:custGeom>
            <a:avLst/>
            <a:gdLst/>
            <a:ahLst/>
            <a:cxnLst/>
            <a:rect l="l" t="t" r="r" b="b"/>
            <a:pathLst>
              <a:path w="1171762" h="641273">
                <a:moveTo>
                  <a:pt x="0" y="0"/>
                </a:moveTo>
                <a:lnTo>
                  <a:pt x="1171762" y="0"/>
                </a:lnTo>
                <a:lnTo>
                  <a:pt x="1171762" y="641273"/>
                </a:lnTo>
                <a:lnTo>
                  <a:pt x="0" y="641273"/>
                </a:lnTo>
                <a:lnTo>
                  <a:pt x="0" y="0"/>
                </a:lnTo>
                <a:close/>
              </a:path>
            </a:pathLst>
          </a:custGeom>
          <a: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3022058" y="3108369"/>
            <a:ext cx="3589541" cy="3348721"/>
          </a:xfrm>
          <a:custGeom>
            <a:avLst/>
            <a:gdLst/>
            <a:ahLst/>
            <a:cxnLst/>
            <a:rect l="l" t="t" r="r" b="b"/>
            <a:pathLst>
              <a:path w="3833384" h="3569839">
                <a:moveTo>
                  <a:pt x="0" y="0"/>
                </a:moveTo>
                <a:lnTo>
                  <a:pt x="3833384" y="0"/>
                </a:lnTo>
                <a:lnTo>
                  <a:pt x="3833384" y="3569839"/>
                </a:lnTo>
                <a:lnTo>
                  <a:pt x="0" y="356983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6521351" y="7656437"/>
            <a:ext cx="4956599" cy="1093710"/>
          </a:xfrm>
          <a:custGeom>
            <a:avLst/>
            <a:gdLst/>
            <a:ahLst/>
            <a:cxnLst/>
            <a:rect l="l" t="t" r="r" b="b"/>
            <a:pathLst>
              <a:path w="4956599" h="1093710">
                <a:moveTo>
                  <a:pt x="0" y="0"/>
                </a:moveTo>
                <a:lnTo>
                  <a:pt x="4956599" y="0"/>
                </a:lnTo>
                <a:lnTo>
                  <a:pt x="4956599" y="1093710"/>
                </a:lnTo>
                <a:lnTo>
                  <a:pt x="0" y="1093710"/>
                </a:lnTo>
                <a:lnTo>
                  <a:pt x="0" y="0"/>
                </a:lnTo>
                <a:close/>
              </a:path>
            </a:pathLst>
          </a:custGeom>
          <a:blipFill>
            <a:blip r:embed="rId7"/>
            <a:stretch>
              <a:fillRect/>
            </a:stretch>
          </a:blipFill>
        </p:spPr>
        <p:txBody>
          <a:bodyPr/>
          <a:lstStyle/>
          <a:p>
            <a:endParaRPr lang="en-US"/>
          </a:p>
        </p:txBody>
      </p:sp>
      <p:sp>
        <p:nvSpPr>
          <p:cNvPr id="14" name="Freeform 14"/>
          <p:cNvSpPr/>
          <p:nvPr/>
        </p:nvSpPr>
        <p:spPr>
          <a:xfrm>
            <a:off x="5804394" y="2997811"/>
            <a:ext cx="2370955" cy="3569839"/>
          </a:xfrm>
          <a:custGeom>
            <a:avLst/>
            <a:gdLst/>
            <a:ahLst/>
            <a:cxnLst/>
            <a:rect l="l" t="t" r="r" b="b"/>
            <a:pathLst>
              <a:path w="2370955" h="3569839">
                <a:moveTo>
                  <a:pt x="0" y="0"/>
                </a:moveTo>
                <a:lnTo>
                  <a:pt x="2370955" y="0"/>
                </a:lnTo>
                <a:lnTo>
                  <a:pt x="2370955" y="3569839"/>
                </a:lnTo>
                <a:lnTo>
                  <a:pt x="0" y="3569839"/>
                </a:lnTo>
                <a:lnTo>
                  <a:pt x="0" y="0"/>
                </a:lnTo>
                <a:close/>
              </a:path>
            </a:pathLst>
          </a:custGeom>
          <a:blipFill>
            <a:blip r:embed="rId8" cstate="email">
              <a:extLst>
                <a:ext uri="{28A0092B-C50C-407E-A947-70E740481C1C}">
                  <a14:useLocalDpi xmlns:a14="http://schemas.microsoft.com/office/drawing/2010/main"/>
                </a:ext>
              </a:extLst>
            </a:blip>
            <a:stretch>
              <a:fillRect/>
            </a:stretch>
          </a:blipFill>
        </p:spPr>
        <p:txBody>
          <a:bodyPr/>
          <a:lstStyle/>
          <a:p>
            <a:endParaRPr lang="en-US"/>
          </a:p>
        </p:txBody>
      </p:sp>
      <p:sp>
        <p:nvSpPr>
          <p:cNvPr id="15" name="Freeform 15"/>
          <p:cNvSpPr/>
          <p:nvPr/>
        </p:nvSpPr>
        <p:spPr>
          <a:xfrm>
            <a:off x="1523999" y="2945500"/>
            <a:ext cx="3705077" cy="3622150"/>
          </a:xfrm>
          <a:custGeom>
            <a:avLst/>
            <a:gdLst/>
            <a:ahLst/>
            <a:cxnLst/>
            <a:rect l="l" t="t" r="r" b="b"/>
            <a:pathLst>
              <a:path w="2879600" h="2874458">
                <a:moveTo>
                  <a:pt x="0" y="0"/>
                </a:moveTo>
                <a:lnTo>
                  <a:pt x="2879600" y="0"/>
                </a:lnTo>
                <a:lnTo>
                  <a:pt x="2879600" y="2874458"/>
                </a:lnTo>
                <a:lnTo>
                  <a:pt x="0" y="2874458"/>
                </a:lnTo>
                <a:lnTo>
                  <a:pt x="0" y="0"/>
                </a:lnTo>
                <a:close/>
              </a:path>
            </a:pathLst>
          </a:custGeom>
          <a:blipFill>
            <a:blip r:embed="rId9" cstate="email">
              <a:extLst>
                <a:ext uri="{28A0092B-C50C-407E-A947-70E740481C1C}">
                  <a14:useLocalDpi xmlns:a14="http://schemas.microsoft.com/office/drawing/2010/main"/>
                </a:ext>
              </a:extLst>
            </a:blip>
            <a:stretch>
              <a:fillRect/>
            </a:stretch>
          </a:blipFill>
        </p:spPr>
        <p:txBody>
          <a:bodyPr/>
          <a:lstStyle/>
          <a:p>
            <a:endParaRPr lang="en-US"/>
          </a:p>
        </p:txBody>
      </p:sp>
      <p:grpSp>
        <p:nvGrpSpPr>
          <p:cNvPr id="16" name="Group 16"/>
          <p:cNvGrpSpPr/>
          <p:nvPr/>
        </p:nvGrpSpPr>
        <p:grpSpPr>
          <a:xfrm>
            <a:off x="8813784" y="2945500"/>
            <a:ext cx="3683016" cy="3622150"/>
            <a:chOff x="0" y="0"/>
            <a:chExt cx="4759785" cy="4759785"/>
          </a:xfrm>
        </p:grpSpPr>
        <p:sp>
          <p:nvSpPr>
            <p:cNvPr id="17" name="Freeform 17"/>
            <p:cNvSpPr/>
            <p:nvPr/>
          </p:nvSpPr>
          <p:spPr>
            <a:xfrm>
              <a:off x="0" y="0"/>
              <a:ext cx="4759785" cy="4759785"/>
            </a:xfrm>
            <a:custGeom>
              <a:avLst/>
              <a:gdLst/>
              <a:ahLst/>
              <a:cxnLst/>
              <a:rect l="l" t="t" r="r" b="b"/>
              <a:pathLst>
                <a:path w="4759785" h="4759785">
                  <a:moveTo>
                    <a:pt x="0" y="0"/>
                  </a:moveTo>
                  <a:lnTo>
                    <a:pt x="4759785" y="0"/>
                  </a:lnTo>
                  <a:lnTo>
                    <a:pt x="4759785" y="4759785"/>
                  </a:lnTo>
                  <a:lnTo>
                    <a:pt x="0" y="4759785"/>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8" name="Freeform 18"/>
            <p:cNvSpPr/>
            <p:nvPr/>
          </p:nvSpPr>
          <p:spPr>
            <a:xfrm>
              <a:off x="851246" y="234178"/>
              <a:ext cx="3057292" cy="4291428"/>
            </a:xfrm>
            <a:custGeom>
              <a:avLst/>
              <a:gdLst/>
              <a:ahLst/>
              <a:cxnLst/>
              <a:rect l="l" t="t" r="r" b="b"/>
              <a:pathLst>
                <a:path w="3057292" h="4291428">
                  <a:moveTo>
                    <a:pt x="0" y="0"/>
                  </a:moveTo>
                  <a:lnTo>
                    <a:pt x="3057292" y="0"/>
                  </a:lnTo>
                  <a:lnTo>
                    <a:pt x="3057292" y="4291428"/>
                  </a:lnTo>
                  <a:lnTo>
                    <a:pt x="0" y="4291428"/>
                  </a:lnTo>
                  <a:lnTo>
                    <a:pt x="0" y="0"/>
                  </a:lnTo>
                  <a:close/>
                </a:path>
              </a:pathLst>
            </a:custGeom>
            <a:blipFill>
              <a:blip r:embed="rId11"/>
              <a:stretch>
                <a:fillRect/>
              </a:stretch>
            </a:blipFill>
          </p:spPr>
          <p:txBody>
            <a:bodyPr/>
            <a:lstStyle/>
            <a:p>
              <a:endParaRPr lang="en-US"/>
            </a:p>
          </p:txBody>
        </p:sp>
      </p:grpSp>
      <p:sp>
        <p:nvSpPr>
          <p:cNvPr id="20" name="TextBox 20"/>
          <p:cNvSpPr txBox="1"/>
          <p:nvPr/>
        </p:nvSpPr>
        <p:spPr>
          <a:xfrm>
            <a:off x="16040467" y="94448"/>
            <a:ext cx="2128848" cy="285081"/>
          </a:xfrm>
          <a:prstGeom prst="rect">
            <a:avLst/>
          </a:prstGeom>
        </p:spPr>
        <p:txBody>
          <a:bodyPr lIns="0" tIns="0" rIns="0" bIns="0" rtlCol="0" anchor="t">
            <a:spAutoFit/>
          </a:bodyPr>
          <a:lstStyle/>
          <a:p>
            <a:pPr algn="ctr">
              <a:lnSpc>
                <a:spcPts val="2364"/>
              </a:lnSpc>
            </a:pPr>
            <a:r>
              <a:rPr lang="en-US" sz="1689" dirty="0">
                <a:solidFill>
                  <a:srgbClr val="F4F6FC"/>
                </a:solidFill>
                <a:latin typeface="Playfair Display"/>
                <a:ea typeface="Playfair Display"/>
                <a:cs typeface="Playfair Display"/>
                <a:sym typeface="Playfair Display"/>
              </a:rPr>
              <a:t>Oliver McInroy &amp; Co.</a:t>
            </a:r>
          </a:p>
        </p:txBody>
      </p:sp>
      <p:sp>
        <p:nvSpPr>
          <p:cNvPr id="21" name="TextBox 8"/>
          <p:cNvSpPr txBox="1"/>
          <p:nvPr/>
        </p:nvSpPr>
        <p:spPr>
          <a:xfrm>
            <a:off x="4029046" y="379529"/>
            <a:ext cx="10886826" cy="885563"/>
          </a:xfrm>
          <a:prstGeom prst="rect">
            <a:avLst/>
          </a:prstGeom>
        </p:spPr>
        <p:txBody>
          <a:bodyPr wrap="square" lIns="0" tIns="0" rIns="0" bIns="0" rtlCol="0" anchor="t">
            <a:spAutoFit/>
          </a:bodyPr>
          <a:lstStyle/>
          <a:p>
            <a:pPr algn="ctr">
              <a:lnSpc>
                <a:spcPts val="7440"/>
              </a:lnSpc>
            </a:pPr>
            <a:r>
              <a:rPr lang="en-US" sz="6000" b="1" dirty="0">
                <a:solidFill>
                  <a:srgbClr val="F4F6FC"/>
                </a:solidFill>
                <a:latin typeface="Playfair Display Bold"/>
                <a:ea typeface="Playfair Display Bold"/>
                <a:cs typeface="Playfair Display Bold"/>
                <a:sym typeface="Playfair Display Bold"/>
              </a:rPr>
              <a:t>CERTIFICATIONS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4809</TotalTime>
  <Words>141</Words>
  <Application>Microsoft Office PowerPoint</Application>
  <PresentationFormat>Custom</PresentationFormat>
  <Paragraphs>24</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Calibri</vt:lpstr>
      <vt:lpstr>Playfair Display Bold</vt:lpstr>
      <vt:lpstr>Arial</vt:lpstr>
      <vt:lpstr>Open Sans</vt:lpstr>
      <vt:lpstr>Playfair Display</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Ingoude Company</dc:title>
  <dc:subject/>
  <dc:creator>rushan haque</dc:creator>
  <cp:keywords/>
  <dc:description/>
  <cp:lastModifiedBy>rushan haque</cp:lastModifiedBy>
  <cp:revision>33</cp:revision>
  <cp:lastPrinted>2025-04-30T10:06:03Z</cp:lastPrinted>
  <dcterms:created xsi:type="dcterms:W3CDTF">2006-08-16T00:00:00Z</dcterms:created>
  <dcterms:modified xsi:type="dcterms:W3CDTF">2026-05-30T12:58:15Z</dcterms:modified>
  <cp:category/>
  <dc:identifier>DAGVloDOqK4</dc:identifier>
</cp:coreProperties>
</file>